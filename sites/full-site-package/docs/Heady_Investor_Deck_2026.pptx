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Patents</c:v>
                </c:pt>
              </c:strCache>
            </c:strRef>
          </c:tx>
          <c:spPr>
            <a:solidFill>
              <a:srgbClr val="00D4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2E8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D4A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C5E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0C04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AI Orchestration</c:v>
                  </c:pt>
                  <c:pt idx="1">
                    <c:v>Memory Systems</c:v>
                  </c:pt>
                  <c:pt idx="2">
                    <c:v>Edge Inference</c:v>
                  </c:pt>
                  <c:pt idx="3">
                    <c:v>Swarm Intelligence</c:v>
                  </c:pt>
                  <c:pt idx="4">
                    <c:v>Security / PQC</c:v>
                  </c:pt>
                  <c:pt idx="5">
                    <c:v>Spatial Computing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</c:v>
                </c:pt>
                <c:pt idx="1">
                  <c:v>12</c:v>
                </c:pt>
                <c:pt idx="2">
                  <c:v>8</c:v>
                </c:pt>
                <c:pt idx="3">
                  <c:v>8</c:v>
                </c:pt>
                <c:pt idx="4">
                  <c:v>7</c:v>
                </c:pt>
                <c:pt idx="5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2E8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8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HEADY™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Operating System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Architecture v9.0 · 60+ Patents Filed · Pre-Seed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 Haywood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Founder &amp; CEO · HeadySystems Inc.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headysystems.com · Delaware C-Corp · Est. 2024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412480" y="1097280"/>
            <a:ext cx="54864" cy="2011680"/>
          </a:xfrm>
          <a:prstGeom prst="rect">
            <a:avLst/>
          </a:prstGeom>
          <a:solidFill>
            <a:srgbClr val="7C5E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749808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80160"/>
            <a:ext cx="54864" cy="7498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280160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73%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926080" y="1280160"/>
            <a:ext cx="5303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AI projects fail to reach production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7680960" cy="749808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194560"/>
            <a:ext cx="54864" cy="749808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194560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C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$4.6T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926080" y="2194560"/>
            <a:ext cx="5303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market by 2032 — fragmented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7680960" cy="749808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108960"/>
            <a:ext cx="54864" cy="749808"/>
          </a:xfrm>
          <a:prstGeom prst="rect">
            <a:avLst/>
          </a:prstGeom>
          <a:solidFill>
            <a:srgbClr val="7C5E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108960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5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in 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926080" y="3108960"/>
            <a:ext cx="5303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responses contain hallucinations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4023360"/>
            <a:ext cx="7680960" cy="749808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4023360"/>
            <a:ext cx="54864" cy="74980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4023360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926080" y="4023360"/>
            <a:ext cx="5303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offer deterministic AI orchestration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Solution: Heady™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self-improving AI operating system with deterministic reasoning,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orchestration, and φ-scaled sacred geometry.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7680960" cy="658368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920240"/>
            <a:ext cx="54864" cy="65836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9202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CSL Gates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0" y="192024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Semantic Logic replaces probabilistic reasoning with deterministic geometric gates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697480"/>
            <a:ext cx="7680960" cy="658368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697480"/>
            <a:ext cx="54864" cy="658368"/>
          </a:xfrm>
          <a:prstGeom prst="rect">
            <a:avLst/>
          </a:prstGeom>
          <a:solidFill>
            <a:srgbClr val="7C5EFF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69748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5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17-Swarm Matrix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269748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 autonomous bee types with stigmergic coordination — 6,765 max concurrent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7680960" cy="658368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474720"/>
            <a:ext cx="54864" cy="6583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47472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3-Tier Memory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74720" y="347472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 Redis (working) → T1 pgvector (persistent) → T2 Qdrant (knowledge graph)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251960"/>
            <a:ext cx="7680960" cy="658368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4251960"/>
            <a:ext cx="54864" cy="658368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2519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C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Failover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474720" y="425196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→ GPT → Workers AI → Colab vLLM — zero single-point-of-failure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Six-Layer Intelligence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530352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54864" cy="530352"/>
          </a:xfrm>
          <a:prstGeom prst="rect">
            <a:avLst/>
          </a:prstGeom>
          <a:solidFill>
            <a:srgbClr val="7C5EF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97280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5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737360" y="109728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Sacred Geometry UI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80560" y="109728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φ-scaled layouts, Fibonacci animations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737360"/>
            <a:ext cx="7680960" cy="530352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1737360"/>
            <a:ext cx="54864" cy="5303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1737360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37360" y="173736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Swarm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173736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swarms, 89 bee types, autonomous execution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377440"/>
            <a:ext cx="7680960" cy="530352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2377440"/>
            <a:ext cx="54864" cy="5303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2377440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737360" y="237744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CSL Logic Engine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80560" y="237744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YES/NO/MAYBE cognition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017520"/>
            <a:ext cx="7680960" cy="530352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017520"/>
            <a:ext cx="54864" cy="530352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017520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737360" y="301752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3D Vector Memory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80560" y="301752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384D embeddings, HNSW, Fibonacci sharding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3657600"/>
            <a:ext cx="7680960" cy="530352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3657600"/>
            <a:ext cx="54864" cy="5303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3657600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737360" y="365760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Runtime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480560" y="365760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+ Colab Pro+ GPU cluster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" y="4297680"/>
            <a:ext cx="7680960" cy="530352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1520" y="4297680"/>
            <a:ext cx="54864" cy="5303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1005840" y="4297680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737360" y="429768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Edge Network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480560" y="429768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Workers AI, sub-5ms latency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HCFullPipeline — 12 Stages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interaction flows through a deterministic cognitive pipeline.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828800" cy="9144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182880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00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INTAKE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88920" y="1463040"/>
            <a:ext cx="1828800" cy="9144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88920" y="1463040"/>
            <a:ext cx="182880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2880360" y="1600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80360" y="1874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DECOMPOSE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463040"/>
            <a:ext cx="1828800" cy="9144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463040"/>
            <a:ext cx="18288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600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1874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03720" y="1463040"/>
            <a:ext cx="1828800" cy="9144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03720" y="1463040"/>
            <a:ext cx="1828800" cy="45720"/>
          </a:xfrm>
          <a:prstGeom prst="rect">
            <a:avLst/>
          </a:prstGeom>
          <a:solidFill>
            <a:srgbClr val="7C5EFF"/>
          </a:solidFill>
          <a:ln/>
        </p:spPr>
      </p:sp>
      <p:sp>
        <p:nvSpPr>
          <p:cNvPr id="19" name="Text 17"/>
          <p:cNvSpPr/>
          <p:nvPr/>
        </p:nvSpPr>
        <p:spPr>
          <a:xfrm>
            <a:off x="6995160" y="1600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95160" y="1874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RESOURCE_ALLOC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2651760"/>
            <a:ext cx="1828800" cy="9144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2651760"/>
            <a:ext cx="18288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2788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CONTEXT_LOAD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88920" y="2651760"/>
            <a:ext cx="1828800" cy="9144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88920" y="2651760"/>
            <a:ext cx="18288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2880360" y="2788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88036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2651760"/>
            <a:ext cx="1828800" cy="9144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2651760"/>
            <a:ext cx="1828800" cy="45720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2788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903720" y="2651760"/>
            <a:ext cx="1828800" cy="9144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903720" y="2651760"/>
            <a:ext cx="1828800" cy="45720"/>
          </a:xfrm>
          <a:prstGeom prst="rect">
            <a:avLst/>
          </a:prstGeom>
          <a:solidFill>
            <a:srgbClr val="7C5EFF"/>
          </a:solidFill>
          <a:ln/>
        </p:spPr>
      </p:sp>
      <p:sp>
        <p:nvSpPr>
          <p:cNvPr id="35" name="Text 33"/>
          <p:cNvSpPr/>
          <p:nvPr/>
        </p:nvSpPr>
        <p:spPr>
          <a:xfrm>
            <a:off x="6995160" y="2788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9516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SYNTHESIZE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31520" y="3840480"/>
            <a:ext cx="1828800" cy="9144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31520" y="3840480"/>
            <a:ext cx="182880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" y="3977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22960" y="4251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88920" y="3840480"/>
            <a:ext cx="1828800" cy="9144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788920" y="3840480"/>
            <a:ext cx="182880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3" name="Text 41"/>
          <p:cNvSpPr/>
          <p:nvPr/>
        </p:nvSpPr>
        <p:spPr>
          <a:xfrm>
            <a:off x="2880360" y="3977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880360" y="4251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46320" y="3840480"/>
            <a:ext cx="1828800" cy="9144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46320" y="3840480"/>
            <a:ext cx="18288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7" name="Text 45"/>
          <p:cNvSpPr/>
          <p:nvPr/>
        </p:nvSpPr>
        <p:spPr>
          <a:xfrm>
            <a:off x="4937760" y="3977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937760" y="4251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903720" y="3840480"/>
            <a:ext cx="1828800" cy="9144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903720" y="3840480"/>
            <a:ext cx="1828800" cy="45720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51" name="Text 49"/>
          <p:cNvSpPr/>
          <p:nvPr/>
        </p:nvSpPr>
        <p:spPr>
          <a:xfrm>
            <a:off x="6995160" y="3977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995160" y="4251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C5E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 Portfolio — 60+ Patents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188720"/>
            <a:ext cx="2926080" cy="34747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1280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5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Patents with RTP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0" y="1737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HS-001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Deterministic Context Feed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0" y="2240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HS-009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IP Sovereignty Sentinel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HS-051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Vibe-Match Latency Delta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0" y="3246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HS-053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Neural Stream Telemetry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0" y="3749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HS-057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MIDI-AI Control Protocol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17-Swarm Autonomous Matrix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 bee types (fib₁₁) · 6,765 max concurrent (fib₂₀) · Stigmergic coordination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280160" cy="8686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128016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463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173736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OVERMIND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65960" y="1371600"/>
            <a:ext cx="1280160" cy="8686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65960" y="1371600"/>
            <a:ext cx="1280160" cy="36576"/>
          </a:xfrm>
          <a:prstGeom prst="rect">
            <a:avLst/>
          </a:prstGeom>
          <a:solidFill>
            <a:srgbClr val="7C5EFF"/>
          </a:solidFill>
          <a:ln/>
        </p:spPr>
      </p:sp>
      <p:sp>
        <p:nvSpPr>
          <p:cNvPr id="11" name="Text 9"/>
          <p:cNvSpPr/>
          <p:nvPr/>
        </p:nvSpPr>
        <p:spPr>
          <a:xfrm>
            <a:off x="2039112" y="1463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039112" y="173736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1371600"/>
            <a:ext cx="1280160" cy="8686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1371600"/>
            <a:ext cx="128016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3456432" y="1463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56432" y="173736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1371600"/>
            <a:ext cx="1280160" cy="8686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1371600"/>
            <a:ext cx="128016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9" name="Text 17"/>
          <p:cNvSpPr/>
          <p:nvPr/>
        </p:nvSpPr>
        <p:spPr>
          <a:xfrm>
            <a:off x="4873752" y="1463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73752" y="173736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EMISSARY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1371600"/>
            <a:ext cx="1280160" cy="8686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1371600"/>
            <a:ext cx="1280160" cy="36576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23" name="Text 21"/>
          <p:cNvSpPr/>
          <p:nvPr/>
        </p:nvSpPr>
        <p:spPr>
          <a:xfrm>
            <a:off x="6291072" y="1463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91072" y="173736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FOUNDRY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635240" y="1371600"/>
            <a:ext cx="1280160" cy="8686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35240" y="1371600"/>
            <a:ext cx="128016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7708392" y="1463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08392" y="173736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STUDIO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2468880"/>
            <a:ext cx="1280160" cy="8686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2468880"/>
            <a:ext cx="1280160" cy="36576"/>
          </a:xfrm>
          <a:prstGeom prst="rect">
            <a:avLst/>
          </a:prstGeom>
          <a:solidFill>
            <a:srgbClr val="7C5EFF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" y="2560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1792" y="283464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ARBITER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965960" y="2468880"/>
            <a:ext cx="1280160" cy="8686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965960" y="2468880"/>
            <a:ext cx="128016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5" name="Text 33"/>
          <p:cNvSpPr/>
          <p:nvPr/>
        </p:nvSpPr>
        <p:spPr>
          <a:xfrm>
            <a:off x="2039112" y="2560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039112" y="283464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DIPLOMAT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383280" y="2468880"/>
            <a:ext cx="1280160" cy="8686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383280" y="2468880"/>
            <a:ext cx="1280160" cy="36576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39" name="Text 37"/>
          <p:cNvSpPr/>
          <p:nvPr/>
        </p:nvSpPr>
        <p:spPr>
          <a:xfrm>
            <a:off x="3456432" y="2560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456432" y="283464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00600" y="2468880"/>
            <a:ext cx="1280160" cy="8686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00600" y="2468880"/>
            <a:ext cx="128016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3" name="Text 41"/>
          <p:cNvSpPr/>
          <p:nvPr/>
        </p:nvSpPr>
        <p:spPr>
          <a:xfrm>
            <a:off x="4873752" y="2560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73752" y="283464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17920" y="2468880"/>
            <a:ext cx="1280160" cy="8686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17920" y="2468880"/>
            <a:ext cx="128016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7" name="Text 45"/>
          <p:cNvSpPr/>
          <p:nvPr/>
        </p:nvSpPr>
        <p:spPr>
          <a:xfrm>
            <a:off x="6291072" y="2560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291072" y="283464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FABRICATOR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635240" y="2468880"/>
            <a:ext cx="1280160" cy="8686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635240" y="2468880"/>
            <a:ext cx="1280160" cy="36576"/>
          </a:xfrm>
          <a:prstGeom prst="rect">
            <a:avLst/>
          </a:prstGeom>
          <a:solidFill>
            <a:srgbClr val="7C5EFF"/>
          </a:solidFill>
          <a:ln/>
        </p:spPr>
      </p:sp>
      <p:sp>
        <p:nvSpPr>
          <p:cNvPr id="51" name="Text 49"/>
          <p:cNvSpPr/>
          <p:nvPr/>
        </p:nvSpPr>
        <p:spPr>
          <a:xfrm>
            <a:off x="7708392" y="2560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708392" y="283464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48640" y="3566160"/>
            <a:ext cx="1280160" cy="8686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48640" y="3566160"/>
            <a:ext cx="128016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5" name="Text 53"/>
          <p:cNvSpPr/>
          <p:nvPr/>
        </p:nvSpPr>
        <p:spPr>
          <a:xfrm>
            <a:off x="621792" y="36576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21792" y="393192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SENTINEL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965960" y="3566160"/>
            <a:ext cx="1280160" cy="8686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1965960" y="3566160"/>
            <a:ext cx="128016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9" name="Text 57"/>
          <p:cNvSpPr/>
          <p:nvPr/>
        </p:nvSpPr>
        <p:spPr>
          <a:xfrm>
            <a:off x="2039112" y="36576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039112" y="393192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NEXUS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383280" y="3566160"/>
            <a:ext cx="1280160" cy="8686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3383280" y="3566160"/>
            <a:ext cx="1280160" cy="36576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63" name="Text 61"/>
          <p:cNvSpPr/>
          <p:nvPr/>
        </p:nvSpPr>
        <p:spPr>
          <a:xfrm>
            <a:off x="3456432" y="36576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3456432" y="393192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DREAMER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800600" y="3566160"/>
            <a:ext cx="1280160" cy="8686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4800600" y="3566160"/>
            <a:ext cx="128016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7" name="Text 65"/>
          <p:cNvSpPr/>
          <p:nvPr/>
        </p:nvSpPr>
        <p:spPr>
          <a:xfrm>
            <a:off x="4873752" y="36576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4873752" y="393192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TENSOR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217920" y="3566160"/>
            <a:ext cx="1280160" cy="8686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217920" y="3566160"/>
            <a:ext cx="1280160" cy="36576"/>
          </a:xfrm>
          <a:prstGeom prst="rect">
            <a:avLst/>
          </a:prstGeom>
          <a:solidFill>
            <a:srgbClr val="7C5EFF"/>
          </a:solidFill>
          <a:ln/>
        </p:spPr>
      </p:sp>
      <p:sp>
        <p:nvSpPr>
          <p:cNvPr id="71" name="Text 69"/>
          <p:cNvSpPr/>
          <p:nvPr/>
        </p:nvSpPr>
        <p:spPr>
          <a:xfrm>
            <a:off x="6291072" y="36576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291072" y="393192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TOPOLOGY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 — $618/month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services, globally distributed, multi-cloud resilience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42976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Service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Cost/mo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Cloudflare Workers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</a:rPr>
                        <a:t>$5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Edge proxy, AI Gateway, Pages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GCP Cloud Run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</a:rPr>
                        <a:t>$75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Primary API compute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Neon Postgres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</a:rPr>
                        <a:t>$19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T1 memory, pgvector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Upstash Redis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</a:rPr>
                        <a:t>$10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T0 memory, QStash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Colab Pro+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</a:rPr>
                        <a:t>$50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GPU cluster (A100/L4)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Firebase Auth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</a:rPr>
                        <a:t>$0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27 OAuth, cross-domain SSO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Azure (free tier)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</a:rPr>
                        <a:t>$0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Cosmos DB, failover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HuggingFace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</a:rPr>
                        <a:t>$0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Embeddings, model hosting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Sentry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</a:rPr>
                        <a:t>$0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Error fortress, tracing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Domains (11)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</a:rPr>
                        <a:t>$13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Annual ÷ 12</a:t>
                      </a:r>
                      <a:endParaRPr lang="en-US" sz="10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Opportunity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2468880" cy="146304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63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$4.6T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 Market (2032)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280160"/>
            <a:ext cx="2468880" cy="146304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463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5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$247B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47472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Orchestration (2030)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2468880" cy="146304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463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C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21792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— AI Platform Tools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108960"/>
            <a:ext cx="7680960" cy="146304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584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Beachhead: AI-Native Development Teams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657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MCP-first teams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autonomous agents who need deterministic orchestration, multi-model fallback, and persistent vector memory — without managing 10+ services themselves.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65960" cy="29260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965960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chat, 100 API calls/day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188720"/>
            <a:ext cx="1965960" cy="29260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188720"/>
            <a:ext cx="196596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371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06040" y="18288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$29/mo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743200" y="246888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MCP, 10K calls/day, priority routing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1965960" cy="29260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188720"/>
            <a:ext cx="1965960" cy="45720"/>
          </a:xfrm>
          <a:prstGeom prst="rect">
            <a:avLst/>
          </a:prstGeom>
          <a:solidFill>
            <a:srgbClr val="7C5EFF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371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5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18288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$99/mo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892040" y="246888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swarms, dedicated resources, SLA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1188720"/>
            <a:ext cx="1965960" cy="29260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1188720"/>
            <a:ext cx="1965960" cy="45720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1371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Pilot Partner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03720" y="18288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040880" y="246888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White-glove onboarding, direct founder support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C5E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Cognitive Archetypes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passes through 7 parallel layers. All must reach confidence ≥ 0.7.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768096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45720" cy="4114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3716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03120" y="1371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Wisdom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0" y="13716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fundamentally true?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1874520"/>
            <a:ext cx="768096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1874520"/>
            <a:ext cx="4572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8745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EAGLE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03120" y="1874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Omniscience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0" y="18745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else does this touch?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377440"/>
            <a:ext cx="768096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2377440"/>
            <a:ext cx="45720" cy="411480"/>
          </a:xfrm>
          <a:prstGeom prst="rect">
            <a:avLst/>
          </a:prstGeom>
          <a:solidFill>
            <a:srgbClr val="7C5EF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3774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5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DOLPHIN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03120" y="2377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Creativity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0" y="23774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elegant route?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2880360"/>
            <a:ext cx="768096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2880360"/>
            <a:ext cx="45720" cy="411480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28803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RABBIT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03120" y="2880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Multiplication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40480" y="28803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other viable paths exist?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3383280"/>
            <a:ext cx="768096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" y="3383280"/>
            <a:ext cx="45720" cy="4114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33832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103120" y="3383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Repetition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40480" y="33832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repetitive work needs doing?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520" y="3886200"/>
            <a:ext cx="768096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3886200"/>
            <a:ext cx="45720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1005840" y="38862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ELEPHANT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103120" y="3886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840480" y="38862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context from prior sessions?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1520" y="4389120"/>
            <a:ext cx="768096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6" name="Shape 34"/>
          <p:cNvSpPr/>
          <p:nvPr/>
        </p:nvSpPr>
        <p:spPr>
          <a:xfrm>
            <a:off x="731520" y="4389120"/>
            <a:ext cx="45720" cy="4114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7" name="Text 35"/>
          <p:cNvSpPr/>
          <p:nvPr/>
        </p:nvSpPr>
        <p:spPr>
          <a:xfrm>
            <a:off x="1005840" y="43891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BEAVER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103120" y="4389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840480" y="43891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build this properly?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Traction &amp;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657600" cy="34747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188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(Q1 2026)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live in production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provisional patents filed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domains operational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22-stage pipeline functional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17-swarm matrix deployed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10-service cloud infrastructure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Cross-device sync operational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Founder's Pilot program active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657600" cy="34747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188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5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12 Months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100 Pilot Partners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II compliance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PQC (CRYSTALS-Kyber) live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Qdrant knowledge graphs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HeadyEX agent marketplace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SDK (Android/iOS)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white-label package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close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16459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80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0C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Pre-Seed: $500K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runway · First 100 Pilot Partners · SOC 2 · Seed-ready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3200400"/>
            <a:ext cx="228600" cy="2286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3182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(2 hires)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0" y="31821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45%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3584448"/>
            <a:ext cx="228600" cy="228600"/>
          </a:xfrm>
          <a:prstGeom prst="rect">
            <a:avLst/>
          </a:prstGeom>
          <a:solidFill>
            <a:srgbClr val="7C5EFF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scaling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0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5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371600" y="3968496"/>
            <a:ext cx="228600" cy="228600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0" y="3950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prosecution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0" y="39502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371600" y="4352544"/>
            <a:ext cx="228600" cy="228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43342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/ Pilot Partners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43342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371600" y="4736592"/>
            <a:ext cx="228600" cy="228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0" y="47183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/ Compliance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0" y="47183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5%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6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HEADY™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Operating 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· ψ · ∞ — Liquid Architecture v9.0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 Haywood</a:t>
            </a:r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 · eric@headysystems.com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headysystems.com · 60+ patents · Delaware C-Corp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Heady™ — The AI Operating System</dc:title>
  <dc:subject>PptxGenJS Presentation</dc:subject>
  <dc:creator>Eric Haywood — HeadySystems Inc.</dc:creator>
  <cp:lastModifiedBy>Eric Haywood — HeadySystems Inc.</cp:lastModifiedBy>
  <cp:revision>1</cp:revision>
  <dcterms:created xsi:type="dcterms:W3CDTF">2026-03-17T17:36:15Z</dcterms:created>
  <dcterms:modified xsi:type="dcterms:W3CDTF">2026-03-17T17:36:15Z</dcterms:modified>
</cp:coreProperties>
</file>